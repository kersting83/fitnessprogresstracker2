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EL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EL_UND_TEX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NUR_TITEL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FAZI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_UND_TEX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_TI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ZI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Fitnesstracker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517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Abschlussprojekt: Grundlagen der Programmierung und Datenbanken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Java, SQL und PostgreSQL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Projektidee und Ziele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Konsolenanwendung zur Verwaltung von Nutzern und ihren Workouts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Umsetzung mit Java 17, IntelliJ, PostgreSQL und JDBC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Abgedeckt: OOP, ArrayList, Exception Handling, CRUD, JOIN, GROUP BY, HAVING, Aggregatfunktionen</a:t>
            </a:r>
            <a:endParaRPr lang="en-US" sz="2200" dirty="0"/>
          </a:p>
        </p:txBody>
      </p:sp>
      <p:sp>
        <p:nvSpPr>
          <p:cNvPr id="4" name="Kennzahl Tabellen"/>
          <p:cNvSpPr/>
          <p:nvPr/>
        </p:nvSpPr>
        <p:spPr>
          <a:xfrm>
            <a:off x="548640" y="36118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D5ECE6"/>
          </a:solidFill>
          <a:ln w="12700">
            <a:solidFill>
              <a:srgbClr val="D5E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</a:rPr>
              <a:t>3</a:t>
            </a: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6F8B"/>
                </a:solidFill>
              </a:rPr>
              <a:t>Tabellen</a:t>
            </a:r>
            <a:endParaRPr lang="en-US" sz="3200" dirty="0"/>
          </a:p>
        </p:txBody>
      </p:sp>
      <p:sp>
        <p:nvSpPr>
          <p:cNvPr id="6" name="Kennzahl Java-Klassen"/>
          <p:cNvSpPr/>
          <p:nvPr/>
        </p:nvSpPr>
        <p:spPr>
          <a:xfrm>
            <a:off x="3291840" y="36118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7324D"/>
                </a:solidFill>
              </a:rPr>
              <a:t>5</a:t>
            </a: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Java-Klassen</a:t>
            </a:r>
            <a:endParaRPr lang="en-US" sz="3200" dirty="0"/>
          </a:p>
        </p:txBody>
      </p:sp>
      <p:sp>
        <p:nvSpPr>
          <p:cNvPr id="8" name="Kennzahl Menüfunktionen"/>
          <p:cNvSpPr/>
          <p:nvPr/>
        </p:nvSpPr>
        <p:spPr>
          <a:xfrm>
            <a:off x="6035040" y="361188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FCE9C4"/>
          </a:solidFill>
          <a:ln w="12700">
            <a:solidFill>
              <a:srgbClr val="FCE9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61188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5A00"/>
                </a:solidFill>
              </a:rPr>
              <a:t>10</a:t>
            </a: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A5A00"/>
                </a:solidFill>
              </a:rPr>
              <a:t>Menüfunktionen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Entwicklungsschritte</a:t>
            </a:r>
            <a:endParaRPr lang="en-US" sz="3600" dirty="0"/>
          </a:p>
        </p:txBody>
      </p:sp>
      <p:sp>
        <p:nvSpPr>
          <p:cNvPr id="3" name="Schritt 1 Planung"/>
          <p:cNvSpPr/>
          <p:nvPr/>
        </p:nvSpPr>
        <p:spPr>
          <a:xfrm>
            <a:off x="5486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DDF0D5"/>
          </a:solidFill>
          <a:ln w="12700">
            <a:solidFill>
              <a:srgbClr val="DDF0D5"/>
            </a:solidFill>
            <a:prstDash val="solid"/>
          </a:ln>
        </p:spPr>
      </p:sp>
      <p:sp>
        <p:nvSpPr>
          <p:cNvPr id="4" name="Nummer 1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F6B2A"/>
          </a:solidFill>
          <a:ln w="12700">
            <a:solidFill>
              <a:srgbClr val="2F6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B2A"/>
                </a:solidFill>
              </a:rPr>
              <a:t>Planung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Thema, Tabellen und Klassen festlegen, Algorithmus und Pseudocode</a:t>
            </a:r>
            <a:endParaRPr lang="en-US" sz="1400" dirty="0"/>
          </a:p>
        </p:txBody>
      </p:sp>
      <p:sp>
        <p:nvSpPr>
          <p:cNvPr id="8" name="Schritt 2 Datenbank"/>
          <p:cNvSpPr/>
          <p:nvPr/>
        </p:nvSpPr>
        <p:spPr>
          <a:xfrm>
            <a:off x="32918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Nummer 2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8A"/>
                </a:solidFill>
              </a:rPr>
              <a:t>Datenbank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Tabellen mit PK und FK in PostgreSQL anlegen, Testdaten einfügen</a:t>
            </a:r>
            <a:endParaRPr lang="en-US" sz="1400" dirty="0"/>
          </a:p>
        </p:txBody>
      </p:sp>
      <p:sp>
        <p:nvSpPr>
          <p:cNvPr id="13" name="Schritt 3 Projekt-Setup"/>
          <p:cNvSpPr/>
          <p:nvPr/>
        </p:nvSpPr>
        <p:spPr>
          <a:xfrm>
            <a:off x="6035040" y="13258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CE9C4"/>
          </a:solidFill>
          <a:ln w="12700">
            <a:solidFill>
              <a:srgbClr val="FCE9C4"/>
            </a:solidFill>
            <a:prstDash val="solid"/>
          </a:ln>
        </p:spPr>
      </p:sp>
      <p:sp>
        <p:nvSpPr>
          <p:cNvPr id="14" name="Nummer 3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00"/>
                </a:solidFill>
              </a:rPr>
              <a:t>Projekt-Setup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IntelliJ-Projekt, JDBC-Treiber, Klasse Datenbank mit Verbindung</a:t>
            </a:r>
            <a:endParaRPr lang="en-US" sz="1400" dirty="0"/>
          </a:p>
        </p:txBody>
      </p:sp>
      <p:sp>
        <p:nvSpPr>
          <p:cNvPr id="18" name="Schritt 4 Klassen"/>
          <p:cNvSpPr/>
          <p:nvPr/>
        </p:nvSpPr>
        <p:spPr>
          <a:xfrm>
            <a:off x="5486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DAD6"/>
          </a:solidFill>
          <a:ln w="12700">
            <a:solidFill>
              <a:srgbClr val="F9DAD6"/>
            </a:solidFill>
            <a:prstDash val="solid"/>
          </a:ln>
        </p:spPr>
      </p:sp>
      <p:sp>
        <p:nvSpPr>
          <p:cNvPr id="19" name="Nummer 4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9A3B33"/>
          </a:solidFill>
          <a:ln w="12700">
            <a:solidFill>
              <a:srgbClr val="9A3B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3B33"/>
                </a:solidFill>
              </a:rPr>
              <a:t>Klassen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Nutzer, Nutzerverwaltung und Uebungsverwaltung mit CRUD und SQL</a:t>
            </a:r>
            <a:endParaRPr lang="en-US" sz="1400" dirty="0"/>
          </a:p>
        </p:txBody>
      </p:sp>
      <p:sp>
        <p:nvSpPr>
          <p:cNvPr id="23" name="Schritt 5 Hauptprogramm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E6DDF3"/>
          </a:solidFill>
          <a:ln w="12700">
            <a:solidFill>
              <a:srgbClr val="E6DDF3"/>
            </a:solidFill>
            <a:prstDash val="solid"/>
          </a:ln>
        </p:spPr>
      </p:sp>
      <p:sp>
        <p:nvSpPr>
          <p:cNvPr id="24" name="Nummer 5"/>
          <p:cNvSpPr/>
          <p:nvPr/>
        </p:nvSpPr>
        <p:spPr>
          <a:xfrm>
            <a:off x="3474720" y="3108960"/>
            <a:ext cx="457200" cy="457200"/>
          </a:xfrm>
          <a:prstGeom prst="ellipse">
            <a:avLst/>
          </a:prstGeom>
          <a:solidFill>
            <a:srgbClr val="57408F"/>
          </a:solidFill>
          <a:ln w="12700">
            <a:solidFill>
              <a:srgbClr val="5740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408F"/>
                </a:solidFill>
              </a:rPr>
              <a:t>Hauptprogramm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Konsolenmenü mit Schleife, Eingabeprüfung, API als Kommentar</a:t>
            </a:r>
            <a:endParaRPr lang="en-US" sz="1400" dirty="0"/>
          </a:p>
        </p:txBody>
      </p:sp>
      <p:sp>
        <p:nvSpPr>
          <p:cNvPr id="28" name="Schritt 6 Testen"/>
          <p:cNvSpPr/>
          <p:nvPr/>
        </p:nvSpPr>
        <p:spPr>
          <a:xfrm>
            <a:off x="6035040" y="29718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D0EEF2"/>
          </a:solidFill>
          <a:ln w="12700">
            <a:solidFill>
              <a:srgbClr val="D0EEF2"/>
            </a:solidFill>
            <a:prstDash val="solid"/>
          </a:ln>
        </p:spPr>
      </p:sp>
      <p:sp>
        <p:nvSpPr>
          <p:cNvPr id="29" name="Nummer 6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rgbClr val="0F5560"/>
          </a:solidFill>
          <a:ln w="12700">
            <a:solidFill>
              <a:srgbClr val="0F556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560"/>
                </a:solidFill>
              </a:rPr>
              <a:t>Testen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Alle Funktionen mit den Testdaten prüfen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Datenbankdesign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Tabelle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Spalten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Schlüssel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nutzer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nutzer_id, name, email, gewicht_kg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PK: nutzer_id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uebungen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uebung_id, name, muskelgruppe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PK: uebung_id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workouts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workout_id, nutzer_id, uebung_id, datum, saetze, wiederholungen, gewicht_kg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PK: workout_id</a:t>
                      </a:r>
                      <a:endParaRPr lang="en-US" sz="1800" dirty="0"/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FK: nutzer_id, uebung_id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inweis Beziehungen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Ein Nutzer hat viele Workouts, eine Übung kommt in vielen Workouts vor. Beim Löschen eines Nutzers werden seine Workouts mitgelöscht (CASCADE).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Programmaufbau in Klassen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Klasse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Aufgabe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Main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Menü, Eingaben, Programmablauf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Nutzerverwaltung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Nutzer anlegen, anzeigen und löschen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Uebungsverwaltung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Fortschritt, Workouts, Statistik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Nutzer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Datenklasse mit Konstruktor, Objekte in einer ArrayList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324D"/>
                          </a:solidFill>
                        </a:rPr>
                        <a:t>Datenbank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E2A38"/>
                          </a:solidFill>
                        </a:rPr>
                        <a:t>JDBC-Verbindung zu PostgreSQL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Level und SQL-Auswertung</a:t>
            </a:r>
            <a:endParaRPr lang="en-US" sz="3600" dirty="0"/>
          </a:p>
        </p:txBody>
      </p:sp>
      <p:sp>
        <p:nvSpPr>
          <p:cNvPr id="3" name="Level Beginner"/>
          <p:cNvSpPr/>
          <p:nvPr/>
        </p:nvSpPr>
        <p:spPr>
          <a:xfrm>
            <a:off x="548640" y="137160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D5ECE6"/>
          </a:solidFill>
          <a:ln w="12700">
            <a:solidFill>
              <a:srgbClr val="D5EC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F55"/>
                </a:solidFill>
              </a:rPr>
              <a:t>Beginner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5F55"/>
                </a:solidFill>
              </a:rPr>
              <a:t>unter 5 Workouts</a:t>
            </a:r>
            <a:endParaRPr lang="en-US" sz="2000" dirty="0"/>
          </a:p>
        </p:txBody>
      </p:sp>
      <p:sp>
        <p:nvSpPr>
          <p:cNvPr id="5" name="Level Fortgeschritten"/>
          <p:cNvSpPr/>
          <p:nvPr/>
        </p:nvSpPr>
        <p:spPr>
          <a:xfrm>
            <a:off x="3291840" y="137160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CE9C4"/>
          </a:solidFill>
          <a:ln w="12700">
            <a:solidFill>
              <a:srgbClr val="FCE9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371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4F00"/>
                </a:solidFill>
              </a:rPr>
              <a:t>Fortgeschritten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4F00"/>
                </a:solidFill>
              </a:rPr>
              <a:t>5 bis 14 Workouts</a:t>
            </a:r>
            <a:endParaRPr lang="en-US" sz="2000" dirty="0"/>
          </a:p>
        </p:txBody>
      </p:sp>
      <p:sp>
        <p:nvSpPr>
          <p:cNvPr id="7" name="Level Profi"/>
          <p:cNvSpPr/>
          <p:nvPr/>
        </p:nvSpPr>
        <p:spPr>
          <a:xfrm>
            <a:off x="6035040" y="137160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0" y="1371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Profi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ab 15 Workouts</a:t>
            </a:r>
            <a:endParaRPr lang="en-US" sz="2000" dirty="0"/>
          </a:p>
        </p:txBody>
      </p:sp>
      <p:sp>
        <p:nvSpPr>
          <p:cNvPr id="9" name="SQL-Fenster"/>
          <p:cNvSpPr/>
          <p:nvPr/>
        </p:nvSpPr>
        <p:spPr>
          <a:xfrm>
            <a:off x="548640" y="251460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0604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u.name, COUNT(*), AVG(w.gewicht_kg), MAX(w.gewicht_kg)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workouts w JOIN uebungen u ON w.uebung_id = u.uebung_id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w.nutzer_id = 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u.name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&gt;= 2;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 verbindet die Tabellen, GROUP BY gruppiert je Übung, HAVING filtert Gruppen ab 2 Einheiten.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Test und Ausblick</a:t>
            </a:r>
            <a:endParaRPr lang="en-US" sz="3600" dirty="0"/>
          </a:p>
        </p:txBody>
      </p:sp>
      <p:sp>
        <p:nvSpPr>
          <p:cNvPr id="3" name="Karte Testfälle"/>
          <p:cNvSpPr/>
          <p:nvPr/>
        </p:nvSpPr>
        <p:spPr>
          <a:xfrm>
            <a:off x="548640" y="1371600"/>
            <a:ext cx="38862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" name="Karte Ausblick"/>
          <p:cNvSpPr/>
          <p:nvPr/>
        </p:nvSpPr>
        <p:spPr>
          <a:xfrm>
            <a:off x="4709160" y="1371600"/>
            <a:ext cx="38862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8B"/>
                </a:solidFill>
              </a:rPr>
              <a:t>Testfälle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Nutzer 1: Beginner (3 Workouts)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Nutzer 2: Fortgeschritten (6 Workouts)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Nutzer 3: Profi (16 Workouts)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Falsche Eingabe: erneute Abfrage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6A00"/>
                </a:solidFill>
              </a:rPr>
              <a:t>Ausblick: REST-API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574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 Code als Kommentar vorbereitet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Bewusst noch nicht aktiv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Später aktivierbar durch Entfernen der Kommentare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Fazit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Fazitpunkt 1 hier einfügen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Fazitpunkt 2 hier einfügen</a:t>
            </a:r>
            <a:endParaRPr lang="en-US" sz="2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Fazitpunkt 3 hier einfügen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nesstracker Code">
  <a:themeElements>
    <a:clrScheme name="Fitnesstracker Code">
      <a:dk1>
        <a:srgbClr val="1E2A38"/>
      </a:dk1>
      <a:lt1>
        <a:srgbClr val="FFFFFF"/>
      </a:lt1>
      <a:dk2>
        <a:srgbClr val="17324D"/>
      </a:dk2>
      <a:lt2>
        <a:srgbClr val="E8F3FA"/>
      </a:lt2>
      <a:accent1>
        <a:srgbClr val="1F6F8B"/>
      </a:accent1>
      <a:accent2>
        <a:srgbClr val="3FA796"/>
      </a:accent2>
      <a:accent3>
        <a:srgbClr val="F0A63A"/>
      </a:accent3>
      <a:accent4>
        <a:srgbClr val="5B7DB1"/>
      </a:accent4>
      <a:accent5>
        <a:srgbClr val="D9625A"/>
      </a:accent5>
      <a:accent6>
        <a:srgbClr val="5A6B7B"/>
      </a:accent6>
      <a:hlink>
        <a:srgbClr val="1F6F8B"/>
      </a:hlink>
      <a:folHlink>
        <a:srgbClr val="5A6B7B"/>
      </a:folHlink>
    </a:clrScheme>
    <a:fontScheme name="Fitnesstracker Co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Fitnesstracker – Abschlussprojekt</dc:title>
  <dc:subject>PptxGenJS Presentation</dc:subject>
  <dc:creator>PptxGenJS</dc:creator>
  <cp:lastModifiedBy>PptxGenJS</cp:lastModifiedBy>
  <cp:revision>1</cp:revision>
  <dcterms:created xsi:type="dcterms:W3CDTF">2026-10-12T18:18:53Z</dcterms:created>
  <dcterms:modified xsi:type="dcterms:W3CDTF">2026-10-12T18:18:53Z</dcterms:modified>
</cp:coreProperties>
</file>